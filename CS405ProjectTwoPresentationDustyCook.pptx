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7" Type="http://schemas.openxmlformats.org/officeDocument/2006/relationships/image" Target="../media/image4.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4a"/><Relationship Id="rId7" Type="http://schemas.openxmlformats.org/officeDocument/2006/relationships/image" Target="../media/image3.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7" Type="http://schemas.openxmlformats.org/officeDocument/2006/relationships/image" Target="../media/image4.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7" Type="http://schemas.openxmlformats.org/officeDocument/2006/relationships/image" Target="../media/image4.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4.png"/><Relationship Id="rId2" Type="http://schemas.microsoft.com/office/2007/relationships/media" Target="../media/media12.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7" Type="http://schemas.openxmlformats.org/officeDocument/2006/relationships/image" Target="../media/image4.png"/><Relationship Id="rId2" Type="http://schemas.microsoft.com/office/2007/relationships/media" Target="../media/media13.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csrc.nist.gov/publications/detail/sp/800-53/rev-5/final" TargetMode="External"/><Relationship Id="rId13" Type="http://schemas.openxmlformats.org/officeDocument/2006/relationships/image" Target="../media/image4.png"/><Relationship Id="rId3" Type="http://schemas.openxmlformats.org/officeDocument/2006/relationships/audio" Target="../media/media14.m4a"/><Relationship Id="rId7" Type="http://schemas.openxmlformats.org/officeDocument/2006/relationships/hyperlink" Target="https://wiki.sei.cmu.edu/confluence/display/cplusplus" TargetMode="External"/><Relationship Id="rId12" Type="http://schemas.openxmlformats.org/officeDocument/2006/relationships/image" Target="../media/image3.png"/><Relationship Id="rId2" Type="http://schemas.microsoft.com/office/2007/relationships/media" Target="../media/media14.m4a"/><Relationship Id="rId1" Type="http://schemas.openxmlformats.org/officeDocument/2006/relationships/tags" Target="../tags/tag15.xml"/><Relationship Id="rId6" Type="http://schemas.openxmlformats.org/officeDocument/2006/relationships/hyperlink" Target="https://owasp.org/www-project-top-ten/" TargetMode="External"/><Relationship Id="rId11" Type="http://schemas.openxmlformats.org/officeDocument/2006/relationships/hyperlink" Target="https://owasp.org/www-project-devsecops-guideline/" TargetMode="External"/><Relationship Id="rId5" Type="http://schemas.openxmlformats.org/officeDocument/2006/relationships/notesSlide" Target="../notesSlides/notesSlide14.xml"/><Relationship Id="rId10" Type="http://schemas.openxmlformats.org/officeDocument/2006/relationships/hyperlink" Target="https://learn.microsoft.com/en-us/security/" TargetMode="External"/><Relationship Id="rId4" Type="http://schemas.openxmlformats.org/officeDocument/2006/relationships/slideLayout" Target="../slideLayouts/slideLayout2.xml"/><Relationship Id="rId9" Type="http://schemas.openxmlformats.org/officeDocument/2006/relationships/hyperlink" Target="https://pages.nist.gov/800-6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599" y="3632200"/>
            <a:ext cx="10191135"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Dusty Cook</a:t>
            </a:r>
            <a:endParaRPr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14" name="Audio 13">
            <a:hlinkClick r:id="" action="ppaction://media"/>
            <a:extLst>
              <a:ext uri="{FF2B5EF4-FFF2-40B4-BE49-F238E27FC236}">
                <a16:creationId xmlns:a16="http://schemas.microsoft.com/office/drawing/2014/main" id="{89E82969-7EE5-6697-DE8D-DE16349422B3}"/>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9422"/>
    </mc:Choice>
    <mc:Fallback>
      <p:transition spd="slow" advTm="194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228600" y="916366"/>
            <a:ext cx="10820400" cy="4024125"/>
          </a:xfrm>
          <a:prstGeom prst="rect">
            <a:avLst/>
          </a:prstGeom>
          <a:noFill/>
          <a:ln>
            <a:noFill/>
          </a:ln>
        </p:spPr>
        <p:txBody>
          <a:bodyPr spcFirstLastPara="1" wrap="square" lIns="91425" tIns="45700" rIns="91425" bIns="45700" anchor="t" anchorCtr="0">
            <a:normAutofit/>
          </a:bodyPr>
          <a:lstStyle/>
          <a:p>
            <a:pPr marL="1028700" lvl="0" algn="l" rtl="0">
              <a:lnSpc>
                <a:spcPct val="90000"/>
              </a:lnSpc>
              <a:spcBef>
                <a:spcPts val="0"/>
              </a:spcBef>
              <a:spcAft>
                <a:spcPts val="0"/>
              </a:spcAft>
              <a:buSzPts val="1800"/>
              <a:buFont typeface="Courier New" panose="02070309020205020404" pitchFamily="49" charset="0"/>
              <a:buChar char="o"/>
            </a:pPr>
            <a:r>
              <a:rPr lang="en-US" sz="1800" dirty="0"/>
              <a:t>The Green Pace security policy was developed to standardize secure coding and system architecture practices</a:t>
            </a:r>
          </a:p>
          <a:p>
            <a:pPr marL="1028700" lvl="0" algn="l" rtl="0">
              <a:lnSpc>
                <a:spcPct val="90000"/>
              </a:lnSpc>
              <a:spcBef>
                <a:spcPts val="0"/>
              </a:spcBef>
              <a:spcAft>
                <a:spcPts val="0"/>
              </a:spcAft>
              <a:buSzPts val="1800"/>
              <a:buFont typeface="Courier New" panose="02070309020205020404" pitchFamily="49" charset="0"/>
              <a:buChar char="o"/>
            </a:pPr>
            <a:r>
              <a:rPr lang="en-US" sz="1800" dirty="0"/>
              <a:t>As development teams grow, consistent security practices are necessary to reduce risk and maintain system integrity</a:t>
            </a:r>
          </a:p>
          <a:p>
            <a:pPr marL="1028700" lvl="0" algn="l" rtl="0">
              <a:lnSpc>
                <a:spcPct val="90000"/>
              </a:lnSpc>
              <a:spcBef>
                <a:spcPts val="0"/>
              </a:spcBef>
              <a:spcAft>
                <a:spcPts val="0"/>
              </a:spcAft>
              <a:buSzPts val="1800"/>
              <a:buFont typeface="Courier New" panose="02070309020205020404" pitchFamily="49" charset="0"/>
              <a:buChar char="o"/>
            </a:pPr>
            <a:r>
              <a:rPr lang="en-US" sz="1800" dirty="0"/>
              <a:t>This policy supports a defense-in-depth strategy, using multiple layers of security controls</a:t>
            </a:r>
          </a:p>
          <a:p>
            <a:pPr marL="1028700" lvl="0" algn="l" rtl="0">
              <a:lnSpc>
                <a:spcPct val="90000"/>
              </a:lnSpc>
              <a:spcBef>
                <a:spcPts val="0"/>
              </a:spcBef>
              <a:spcAft>
                <a:spcPts val="0"/>
              </a:spcAft>
              <a:buSzPts val="1800"/>
              <a:buFont typeface="Courier New" panose="02070309020205020404" pitchFamily="49" charset="0"/>
              <a:buChar char="o"/>
            </a:pPr>
            <a:r>
              <a:rPr lang="en-US" sz="1800" dirty="0"/>
              <a:t>Security is implemented across all layers, including application, network, and infrastructure</a:t>
            </a:r>
          </a:p>
          <a:p>
            <a:pPr marL="1028700" lvl="0" algn="l" rtl="0">
              <a:lnSpc>
                <a:spcPct val="90000"/>
              </a:lnSpc>
              <a:spcBef>
                <a:spcPts val="0"/>
              </a:spcBef>
              <a:spcAft>
                <a:spcPts val="0"/>
              </a:spcAft>
              <a:buSzPts val="1800"/>
              <a:buFont typeface="Courier New" panose="02070309020205020404" pitchFamily="49" charset="0"/>
              <a:buChar char="o"/>
            </a:pPr>
            <a:r>
              <a:rPr lang="en-US" sz="1800" dirty="0"/>
              <a:t>The goal is to reduce vulnerabilities, limit attack surfaces, and improve overall system resilience</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2400095" y="3429000"/>
            <a:ext cx="7391810" cy="3283807"/>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15" name="Audio 14">
            <a:hlinkClick r:id="" action="ppaction://media"/>
            <a:extLst>
              <a:ext uri="{FF2B5EF4-FFF2-40B4-BE49-F238E27FC236}">
                <a16:creationId xmlns:a16="http://schemas.microsoft.com/office/drawing/2014/main" id="{2F95818C-6841-A62E-0BE7-94042CF77270}"/>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242"/>
    </mc:Choice>
    <mc:Fallback>
      <p:transition spd="slow" advTm="352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2313612970"/>
              </p:ext>
            </p:extLst>
          </p:nvPr>
        </p:nvGraphicFramePr>
        <p:xfrm>
          <a:off x="2178387" y="2057401"/>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sz="1400" u="none" strike="noStrike" cap="none" dirty="0"/>
                        <a:t>Input validation failures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Authentication bypass vulnerabilities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Injection attacks (SQL, command injection)</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Improper error handling</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Sensitive data exposure</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Weak encryption or no encryption</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Broken access control</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Hardcoded credentials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Minor UI/input formatting issues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Non-critical logging issues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Performance-related vulnerabilities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Low-risk misconfigurations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Zero-day exploits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Advanced persistent threats (APT)</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Insider threats with elevated privileges</a:t>
                      </a:r>
                    </a:p>
                    <a:p>
                      <a:pPr marL="285750" marR="0" lvl="0" indent="-285750" algn="ctr" rtl="0">
                        <a:lnSpc>
                          <a:spcPct val="100000"/>
                        </a:lnSpc>
                        <a:spcBef>
                          <a:spcPts val="0"/>
                        </a:spcBef>
                        <a:spcAft>
                          <a:spcPts val="0"/>
                        </a:spcAft>
                        <a:buClr>
                          <a:srgbClr val="000000"/>
                        </a:buClr>
                        <a:buSzPts val="3600"/>
                        <a:buFont typeface="Courier New" panose="02070309020205020404" pitchFamily="49" charset="0"/>
                        <a:buChar char="o"/>
                      </a:pPr>
                      <a:r>
                        <a:rPr lang="en-US" dirty="0"/>
                        <a:t>Highly targeted attacks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Audio 10">
            <a:hlinkClick r:id="" action="ppaction://media"/>
            <a:extLst>
              <a:ext uri="{FF2B5EF4-FFF2-40B4-BE49-F238E27FC236}">
                <a16:creationId xmlns:a16="http://schemas.microsoft.com/office/drawing/2014/main" id="{8F912888-2450-C2FC-C871-5F10F5B1D64B}"/>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4057"/>
    </mc:Choice>
    <mc:Fallback>
      <p:transition spd="slow" advTm="340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0"/>
              </a:spcBef>
              <a:spcAft>
                <a:spcPts val="0"/>
              </a:spcAft>
              <a:buClr>
                <a:schemeClr val="lt1"/>
              </a:buClr>
              <a:buSzPts val="2200"/>
              <a:buFont typeface="+mj-lt"/>
              <a:buAutoNum type="arabicPeriod"/>
            </a:pPr>
            <a:r>
              <a:rPr lang="en-US" dirty="0"/>
              <a:t>Input Validation → Validate all user input to prevent injection attacks</a:t>
            </a:r>
          </a:p>
          <a:p>
            <a:pPr lvl="0" indent="-457200" algn="l" rtl="0">
              <a:lnSpc>
                <a:spcPct val="90000"/>
              </a:lnSpc>
              <a:spcBef>
                <a:spcPts val="0"/>
              </a:spcBef>
              <a:spcAft>
                <a:spcPts val="0"/>
              </a:spcAft>
              <a:buClr>
                <a:schemeClr val="lt1"/>
              </a:buClr>
              <a:buSzPts val="2200"/>
              <a:buFont typeface="+mj-lt"/>
              <a:buAutoNum type="arabicPeriod"/>
            </a:pPr>
            <a:r>
              <a:rPr lang="en-US" dirty="0"/>
              <a:t>Authentication → Enforce secure login and identity verification</a:t>
            </a:r>
          </a:p>
          <a:p>
            <a:pPr lvl="0" indent="-457200" algn="l" rtl="0">
              <a:lnSpc>
                <a:spcPct val="90000"/>
              </a:lnSpc>
              <a:spcBef>
                <a:spcPts val="0"/>
              </a:spcBef>
              <a:spcAft>
                <a:spcPts val="0"/>
              </a:spcAft>
              <a:buClr>
                <a:schemeClr val="lt1"/>
              </a:buClr>
              <a:buSzPts val="2200"/>
              <a:buFont typeface="+mj-lt"/>
              <a:buAutoNum type="arabicPeriod"/>
            </a:pPr>
            <a:r>
              <a:rPr lang="en-US" dirty="0"/>
              <a:t>Authorization → Apply role-based access control (RBAC)</a:t>
            </a:r>
          </a:p>
          <a:p>
            <a:pPr lvl="0" indent="-457200" algn="l" rtl="0">
              <a:lnSpc>
                <a:spcPct val="90000"/>
              </a:lnSpc>
              <a:spcBef>
                <a:spcPts val="0"/>
              </a:spcBef>
              <a:spcAft>
                <a:spcPts val="0"/>
              </a:spcAft>
              <a:buClr>
                <a:schemeClr val="lt1"/>
              </a:buClr>
              <a:buSzPts val="2200"/>
              <a:buFont typeface="+mj-lt"/>
              <a:buAutoNum type="arabicPeriod"/>
            </a:pPr>
            <a:r>
              <a:rPr lang="en-US" dirty="0"/>
              <a:t>Least Privilege → Grant only necessary permissions</a:t>
            </a:r>
          </a:p>
          <a:p>
            <a:pPr lvl="0" indent="-457200" algn="l" rtl="0">
              <a:lnSpc>
                <a:spcPct val="90000"/>
              </a:lnSpc>
              <a:spcBef>
                <a:spcPts val="0"/>
              </a:spcBef>
              <a:spcAft>
                <a:spcPts val="0"/>
              </a:spcAft>
              <a:buClr>
                <a:schemeClr val="lt1"/>
              </a:buClr>
              <a:buSzPts val="2200"/>
              <a:buFont typeface="+mj-lt"/>
              <a:buAutoNum type="arabicPeriod"/>
            </a:pPr>
            <a:r>
              <a:rPr lang="en-US" dirty="0"/>
              <a:t>Encryption → Protect data in transit and at rest</a:t>
            </a:r>
          </a:p>
          <a:p>
            <a:pPr lvl="0" indent="-457200" algn="l" rtl="0">
              <a:lnSpc>
                <a:spcPct val="90000"/>
              </a:lnSpc>
              <a:spcBef>
                <a:spcPts val="0"/>
              </a:spcBef>
              <a:spcAft>
                <a:spcPts val="0"/>
              </a:spcAft>
              <a:buClr>
                <a:schemeClr val="lt1"/>
              </a:buClr>
              <a:buSzPts val="2200"/>
              <a:buFont typeface="+mj-lt"/>
              <a:buAutoNum type="arabicPeriod"/>
            </a:pPr>
            <a:r>
              <a:rPr lang="en-US" dirty="0"/>
              <a:t>Error Handling → Avoid exposing sensitive system information</a:t>
            </a:r>
          </a:p>
          <a:p>
            <a:pPr lvl="0" indent="-457200" algn="l" rtl="0">
              <a:lnSpc>
                <a:spcPct val="90000"/>
              </a:lnSpc>
              <a:spcBef>
                <a:spcPts val="0"/>
              </a:spcBef>
              <a:spcAft>
                <a:spcPts val="0"/>
              </a:spcAft>
              <a:buClr>
                <a:schemeClr val="lt1"/>
              </a:buClr>
              <a:buSzPts val="2200"/>
              <a:buFont typeface="+mj-lt"/>
              <a:buAutoNum type="arabicPeriod"/>
            </a:pPr>
            <a:r>
              <a:rPr lang="en-US" dirty="0"/>
              <a:t>Secure Coding Practices → Follow standardized coding guidelines</a:t>
            </a:r>
          </a:p>
          <a:p>
            <a:pPr lvl="0" indent="-457200" algn="l" rtl="0">
              <a:lnSpc>
                <a:spcPct val="90000"/>
              </a:lnSpc>
              <a:spcBef>
                <a:spcPts val="0"/>
              </a:spcBef>
              <a:spcAft>
                <a:spcPts val="0"/>
              </a:spcAft>
              <a:buClr>
                <a:schemeClr val="lt1"/>
              </a:buClr>
              <a:buSzPts val="2200"/>
              <a:buFont typeface="+mj-lt"/>
              <a:buAutoNum type="arabicPeriod"/>
            </a:pPr>
            <a:r>
              <a:rPr lang="en-US" dirty="0"/>
              <a:t>Logging &amp; Monitoring → Track system activity and detect threats</a:t>
            </a:r>
          </a:p>
          <a:p>
            <a:pPr lvl="0" indent="-457200" algn="l" rtl="0">
              <a:lnSpc>
                <a:spcPct val="90000"/>
              </a:lnSpc>
              <a:spcBef>
                <a:spcPts val="0"/>
              </a:spcBef>
              <a:spcAft>
                <a:spcPts val="0"/>
              </a:spcAft>
              <a:buClr>
                <a:schemeClr val="lt1"/>
              </a:buClr>
              <a:buSzPts val="2200"/>
              <a:buFont typeface="+mj-lt"/>
              <a:buAutoNum type="arabicPeriod"/>
            </a:pPr>
            <a:r>
              <a:rPr lang="en-US" dirty="0"/>
              <a:t>Defense in Depth → Apply multiple layers of security controls</a:t>
            </a:r>
          </a:p>
          <a:p>
            <a:pPr lvl="0" indent="-457200" algn="l" rtl="0">
              <a:lnSpc>
                <a:spcPct val="90000"/>
              </a:lnSpc>
              <a:spcBef>
                <a:spcPts val="0"/>
              </a:spcBef>
              <a:spcAft>
                <a:spcPts val="0"/>
              </a:spcAft>
              <a:buClr>
                <a:schemeClr val="lt1"/>
              </a:buClr>
              <a:buSzPts val="2200"/>
              <a:buFont typeface="+mj-lt"/>
              <a:buAutoNum type="arabicPeriod"/>
            </a:pPr>
            <a:r>
              <a:rPr lang="en-US" dirty="0"/>
              <a:t>Secure Configuration → Prevent misconfigurations and defaults</a:t>
            </a:r>
            <a:endParaRPr dirty="0"/>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Audio 10">
            <a:hlinkClick r:id="" action="ppaction://media"/>
            <a:extLst>
              <a:ext uri="{FF2B5EF4-FFF2-40B4-BE49-F238E27FC236}">
                <a16:creationId xmlns:a16="http://schemas.microsoft.com/office/drawing/2014/main" id="{01C71A62-E48C-284D-2A30-3AA684788A9B}"/>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4445"/>
    </mc:Choice>
    <mc:Fallback>
      <p:transition spd="slow" advTm="344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2000"/>
              <a:buNone/>
            </a:pPr>
            <a:r>
              <a:rPr lang="en-US" dirty="0"/>
              <a:t>High Priority</a:t>
            </a:r>
          </a:p>
          <a:p>
            <a:pPr marL="0" lvl="0" indent="0" algn="l" rtl="0">
              <a:lnSpc>
                <a:spcPct val="90000"/>
              </a:lnSpc>
              <a:spcBef>
                <a:spcPts val="0"/>
              </a:spcBef>
              <a:spcAft>
                <a:spcPts val="0"/>
              </a:spcAft>
              <a:buClr>
                <a:schemeClr val="lt1"/>
              </a:buClr>
              <a:buSzPts val="2000"/>
              <a:buNone/>
            </a:pPr>
            <a:r>
              <a:rPr lang="en-US" dirty="0"/>
              <a:t>1. Input validation</a:t>
            </a:r>
          </a:p>
          <a:p>
            <a:pPr marL="0" lvl="0" indent="0" algn="l" rtl="0">
              <a:lnSpc>
                <a:spcPct val="90000"/>
              </a:lnSpc>
              <a:spcBef>
                <a:spcPts val="0"/>
              </a:spcBef>
              <a:spcAft>
                <a:spcPts val="0"/>
              </a:spcAft>
              <a:buClr>
                <a:schemeClr val="lt1"/>
              </a:buClr>
              <a:buSzPts val="2000"/>
              <a:buNone/>
            </a:pPr>
            <a:r>
              <a:rPr lang="en-US" dirty="0"/>
              <a:t>2. Authentication &amp; authorization</a:t>
            </a:r>
          </a:p>
          <a:p>
            <a:pPr marL="0" lvl="0" indent="0" algn="l" rtl="0">
              <a:lnSpc>
                <a:spcPct val="90000"/>
              </a:lnSpc>
              <a:spcBef>
                <a:spcPts val="0"/>
              </a:spcBef>
              <a:spcAft>
                <a:spcPts val="0"/>
              </a:spcAft>
              <a:buClr>
                <a:schemeClr val="lt1"/>
              </a:buClr>
              <a:buSzPts val="2000"/>
              <a:buNone/>
            </a:pPr>
            <a:r>
              <a:rPr lang="en-US" dirty="0"/>
              <a:t>3. Encryption of sensitive data</a:t>
            </a:r>
          </a:p>
          <a:p>
            <a:pPr marL="0" lvl="0" indent="0" algn="l" rtl="0">
              <a:lnSpc>
                <a:spcPct val="90000"/>
              </a:lnSpc>
              <a:spcBef>
                <a:spcPts val="0"/>
              </a:spcBef>
              <a:spcAft>
                <a:spcPts val="0"/>
              </a:spcAft>
              <a:buClr>
                <a:schemeClr val="lt1"/>
              </a:buClr>
              <a:buSzPts val="2000"/>
              <a:buNone/>
            </a:pPr>
            <a:r>
              <a:rPr lang="en-US" dirty="0"/>
              <a:t>4. Protection against injection attacks</a:t>
            </a:r>
          </a:p>
          <a:p>
            <a:pPr marL="0" lvl="0" indent="0" algn="l" rtl="0">
              <a:lnSpc>
                <a:spcPct val="90000"/>
              </a:lnSpc>
              <a:spcBef>
                <a:spcPts val="0"/>
              </a:spcBef>
              <a:spcAft>
                <a:spcPts val="0"/>
              </a:spcAft>
              <a:buClr>
                <a:schemeClr val="lt1"/>
              </a:buClr>
              <a:buSzPts val="2000"/>
              <a:buNone/>
            </a:pPr>
            <a:endParaRPr lang="en-US" dirty="0"/>
          </a:p>
          <a:p>
            <a:pPr marL="0" lvl="0" indent="0" algn="l" rtl="0">
              <a:lnSpc>
                <a:spcPct val="90000"/>
              </a:lnSpc>
              <a:spcBef>
                <a:spcPts val="0"/>
              </a:spcBef>
              <a:spcAft>
                <a:spcPts val="0"/>
              </a:spcAft>
              <a:buClr>
                <a:schemeClr val="lt1"/>
              </a:buClr>
              <a:buSzPts val="2000"/>
              <a:buNone/>
            </a:pPr>
            <a:r>
              <a:rPr lang="en-US" dirty="0"/>
              <a:t>Medium Priority</a:t>
            </a:r>
          </a:p>
          <a:p>
            <a:pPr marL="0" lvl="0" indent="0" algn="l" rtl="0">
              <a:lnSpc>
                <a:spcPct val="90000"/>
              </a:lnSpc>
              <a:spcBef>
                <a:spcPts val="0"/>
              </a:spcBef>
              <a:spcAft>
                <a:spcPts val="0"/>
              </a:spcAft>
              <a:buClr>
                <a:schemeClr val="lt1"/>
              </a:buClr>
              <a:buSzPts val="2000"/>
              <a:buNone/>
            </a:pPr>
            <a:r>
              <a:rPr lang="en-US" dirty="0"/>
              <a:t>5. Secure error handling</a:t>
            </a:r>
          </a:p>
          <a:p>
            <a:pPr marL="0" lvl="0" indent="0" algn="l" rtl="0">
              <a:lnSpc>
                <a:spcPct val="90000"/>
              </a:lnSpc>
              <a:spcBef>
                <a:spcPts val="0"/>
              </a:spcBef>
              <a:spcAft>
                <a:spcPts val="0"/>
              </a:spcAft>
              <a:buClr>
                <a:schemeClr val="lt1"/>
              </a:buClr>
              <a:buSzPts val="2000"/>
              <a:buNone/>
            </a:pPr>
            <a:r>
              <a:rPr lang="en-US" dirty="0"/>
              <a:t>6. Logging and monitoring</a:t>
            </a:r>
          </a:p>
          <a:p>
            <a:pPr marL="0" lvl="0" indent="0" algn="l" rtl="0">
              <a:lnSpc>
                <a:spcPct val="90000"/>
              </a:lnSpc>
              <a:spcBef>
                <a:spcPts val="0"/>
              </a:spcBef>
              <a:spcAft>
                <a:spcPts val="0"/>
              </a:spcAft>
              <a:buClr>
                <a:schemeClr val="lt1"/>
              </a:buClr>
              <a:buSzPts val="2000"/>
              <a:buNone/>
            </a:pPr>
            <a:r>
              <a:rPr lang="en-US" dirty="0"/>
              <a:t>7. Secure coding practices</a:t>
            </a:r>
          </a:p>
          <a:p>
            <a:pPr marL="0" lvl="0" indent="0" algn="l" rtl="0">
              <a:lnSpc>
                <a:spcPct val="90000"/>
              </a:lnSpc>
              <a:spcBef>
                <a:spcPts val="0"/>
              </a:spcBef>
              <a:spcAft>
                <a:spcPts val="0"/>
              </a:spcAft>
              <a:buClr>
                <a:schemeClr val="lt1"/>
              </a:buClr>
              <a:buSzPts val="2000"/>
              <a:buNone/>
            </a:pPr>
            <a:endParaRPr lang="en-US" dirty="0"/>
          </a:p>
          <a:p>
            <a:pPr marL="0" lvl="0" indent="0" algn="l" rtl="0">
              <a:lnSpc>
                <a:spcPct val="90000"/>
              </a:lnSpc>
              <a:spcBef>
                <a:spcPts val="0"/>
              </a:spcBef>
              <a:spcAft>
                <a:spcPts val="0"/>
              </a:spcAft>
              <a:buClr>
                <a:schemeClr val="lt1"/>
              </a:buClr>
              <a:buSzPts val="2000"/>
              <a:buNone/>
            </a:pPr>
            <a:r>
              <a:rPr lang="en-US" dirty="0"/>
              <a:t>Low Priority</a:t>
            </a:r>
          </a:p>
          <a:p>
            <a:pPr marL="0" lvl="0" indent="0" algn="l" rtl="0">
              <a:lnSpc>
                <a:spcPct val="90000"/>
              </a:lnSpc>
              <a:spcBef>
                <a:spcPts val="0"/>
              </a:spcBef>
              <a:spcAft>
                <a:spcPts val="0"/>
              </a:spcAft>
              <a:buClr>
                <a:schemeClr val="lt1"/>
              </a:buClr>
              <a:buSzPts val="2000"/>
              <a:buNone/>
            </a:pPr>
            <a:r>
              <a:rPr lang="en-US" dirty="0"/>
              <a:t>8. Secure configuration management</a:t>
            </a:r>
          </a:p>
          <a:p>
            <a:pPr marL="0" lvl="0" indent="0" algn="l" rtl="0">
              <a:lnSpc>
                <a:spcPct val="90000"/>
              </a:lnSpc>
              <a:spcBef>
                <a:spcPts val="0"/>
              </a:spcBef>
              <a:spcAft>
                <a:spcPts val="0"/>
              </a:spcAft>
              <a:buClr>
                <a:schemeClr val="lt1"/>
              </a:buClr>
              <a:buSzPts val="2000"/>
              <a:buNone/>
            </a:pPr>
            <a:r>
              <a:rPr lang="en-US" dirty="0"/>
              <a:t>9. Performance-related security issues</a:t>
            </a:r>
          </a:p>
          <a:p>
            <a:pPr marL="0" lvl="0" indent="0" algn="l" rtl="0">
              <a:lnSpc>
                <a:spcPct val="90000"/>
              </a:lnSpc>
              <a:spcBef>
                <a:spcPts val="0"/>
              </a:spcBef>
              <a:spcAft>
                <a:spcPts val="0"/>
              </a:spcAft>
              <a:buClr>
                <a:schemeClr val="lt1"/>
              </a:buClr>
              <a:buSzPts val="2000"/>
              <a:buNone/>
            </a:pPr>
            <a:r>
              <a:rPr lang="en-US" dirty="0"/>
              <a:t>10. Non-critical input formatting validation</a:t>
            </a:r>
            <a:endParaRPr dirty="0"/>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5" name="Audio 14">
            <a:hlinkClick r:id="" action="ppaction://media"/>
            <a:extLst>
              <a:ext uri="{FF2B5EF4-FFF2-40B4-BE49-F238E27FC236}">
                <a16:creationId xmlns:a16="http://schemas.microsoft.com/office/drawing/2014/main" id="{672873D3-DF21-DB7D-66A7-8DC5A2104F98}"/>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0638"/>
    </mc:Choice>
    <mc:Fallback>
      <p:transition spd="slow" advTm="306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1600" dirty="0"/>
              <a:t>Data in Transit</a:t>
            </a:r>
          </a:p>
          <a:p>
            <a:pPr marL="285750" lvl="0" indent="-285750">
              <a:spcBef>
                <a:spcPts val="0"/>
              </a:spcBef>
              <a:buSzPts val="2000"/>
              <a:buFont typeface="Courier New" panose="02070309020205020404" pitchFamily="49" charset="0"/>
              <a:buChar char="o"/>
            </a:pPr>
            <a:r>
              <a:rPr lang="en-US" sz="1600" dirty="0"/>
              <a:t>Use HTTPS (TLS 1.2 or higher) for all communications</a:t>
            </a:r>
          </a:p>
          <a:p>
            <a:pPr marL="285750" lvl="0" indent="-285750">
              <a:spcBef>
                <a:spcPts val="0"/>
              </a:spcBef>
              <a:buSzPts val="2000"/>
              <a:buFont typeface="Courier New" panose="02070309020205020404" pitchFamily="49" charset="0"/>
              <a:buChar char="o"/>
            </a:pPr>
            <a:r>
              <a:rPr lang="en-US" sz="1600" dirty="0"/>
              <a:t>Encrypt API calls and network traffic</a:t>
            </a:r>
          </a:p>
          <a:p>
            <a:pPr marL="285750" lvl="0" indent="-285750">
              <a:spcBef>
                <a:spcPts val="0"/>
              </a:spcBef>
              <a:buSzPts val="2000"/>
              <a:buFont typeface="Courier New" panose="02070309020205020404" pitchFamily="49" charset="0"/>
              <a:buChar char="o"/>
            </a:pPr>
            <a:r>
              <a:rPr lang="en-US" sz="1600" dirty="0"/>
              <a:t>Prevent man-in-the-middle attacks</a:t>
            </a:r>
          </a:p>
          <a:p>
            <a:pPr marL="285750" lvl="0" indent="-285750">
              <a:spcBef>
                <a:spcPts val="0"/>
              </a:spcBef>
              <a:buSzPts val="2000"/>
              <a:buFont typeface="Courier New" panose="02070309020205020404" pitchFamily="49" charset="0"/>
              <a:buChar char="o"/>
            </a:pPr>
            <a:endParaRPr lang="en-US" sz="1600" dirty="0"/>
          </a:p>
          <a:p>
            <a:pPr marL="0" lvl="0" indent="0">
              <a:spcBef>
                <a:spcPts val="0"/>
              </a:spcBef>
              <a:buSzPts val="2000"/>
              <a:buNone/>
            </a:pPr>
            <a:r>
              <a:rPr lang="en-US" sz="1600" dirty="0"/>
              <a:t>Data at Rest</a:t>
            </a:r>
          </a:p>
          <a:p>
            <a:pPr marL="285750" lvl="0" indent="-285750">
              <a:spcBef>
                <a:spcPts val="0"/>
              </a:spcBef>
              <a:buSzPts val="2000"/>
              <a:buFont typeface="Courier New" panose="02070309020205020404" pitchFamily="49" charset="0"/>
              <a:buChar char="o"/>
            </a:pPr>
            <a:r>
              <a:rPr lang="en-US" sz="1600" dirty="0"/>
              <a:t>Encrypt sensitive data using strong algorithms (AES-256)</a:t>
            </a:r>
          </a:p>
          <a:p>
            <a:pPr marL="285750" lvl="0" indent="-285750">
              <a:spcBef>
                <a:spcPts val="0"/>
              </a:spcBef>
              <a:buSzPts val="2000"/>
              <a:buFont typeface="Courier New" panose="02070309020205020404" pitchFamily="49" charset="0"/>
              <a:buChar char="o"/>
            </a:pPr>
            <a:r>
              <a:rPr lang="en-US" sz="1600" dirty="0"/>
              <a:t>Secure databases, files, and backups</a:t>
            </a:r>
          </a:p>
          <a:p>
            <a:pPr marL="285750" lvl="0" indent="-285750">
              <a:spcBef>
                <a:spcPts val="0"/>
              </a:spcBef>
              <a:buSzPts val="2000"/>
              <a:buFont typeface="Courier New" panose="02070309020205020404" pitchFamily="49" charset="0"/>
              <a:buChar char="o"/>
            </a:pPr>
            <a:r>
              <a:rPr lang="en-US" sz="1600" dirty="0"/>
              <a:t>Restrict access to encrypted storage</a:t>
            </a:r>
          </a:p>
          <a:p>
            <a:pPr marL="285750" lvl="0" indent="-285750">
              <a:spcBef>
                <a:spcPts val="0"/>
              </a:spcBef>
              <a:buSzPts val="2000"/>
              <a:buFont typeface="Courier New" panose="02070309020205020404" pitchFamily="49" charset="0"/>
              <a:buChar char="o"/>
            </a:pPr>
            <a:endParaRPr lang="en-US" sz="1600" dirty="0"/>
          </a:p>
          <a:p>
            <a:pPr marL="0" lvl="0" indent="0">
              <a:spcBef>
                <a:spcPts val="0"/>
              </a:spcBef>
              <a:buSzPts val="2000"/>
              <a:buNone/>
            </a:pPr>
            <a:r>
              <a:rPr lang="en-US" sz="1600" dirty="0"/>
              <a:t>Data in Use</a:t>
            </a:r>
          </a:p>
          <a:p>
            <a:pPr marL="285750" lvl="0" indent="-285750">
              <a:spcBef>
                <a:spcPts val="0"/>
              </a:spcBef>
              <a:buSzPts val="2000"/>
              <a:buFont typeface="Courier New" panose="02070309020205020404" pitchFamily="49" charset="0"/>
              <a:buChar char="o"/>
            </a:pPr>
            <a:r>
              <a:rPr lang="en-US" sz="1600" dirty="0"/>
              <a:t>Limit exposure of sensitive data in memory</a:t>
            </a:r>
          </a:p>
          <a:p>
            <a:pPr marL="285750" lvl="0" indent="-285750">
              <a:spcBef>
                <a:spcPts val="0"/>
              </a:spcBef>
              <a:buSzPts val="2000"/>
              <a:buFont typeface="Courier New" panose="02070309020205020404" pitchFamily="49" charset="0"/>
              <a:buChar char="o"/>
            </a:pPr>
            <a:r>
              <a:rPr lang="en-US" sz="1600" dirty="0"/>
              <a:t>Use secure processing and access controls</a:t>
            </a:r>
          </a:p>
          <a:p>
            <a:pPr marL="285750" lvl="0" indent="-285750">
              <a:spcBef>
                <a:spcPts val="0"/>
              </a:spcBef>
              <a:buSzPts val="2000"/>
              <a:buFont typeface="Courier New" panose="02070309020205020404" pitchFamily="49" charset="0"/>
              <a:buChar char="o"/>
            </a:pPr>
            <a:r>
              <a:rPr lang="en-US" sz="1600" dirty="0"/>
              <a:t>Avoid storing sensitive data unnecessarily</a:t>
            </a: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Audio 10">
            <a:hlinkClick r:id="" action="ppaction://media"/>
            <a:extLst>
              <a:ext uri="{FF2B5EF4-FFF2-40B4-BE49-F238E27FC236}">
                <a16:creationId xmlns:a16="http://schemas.microsoft.com/office/drawing/2014/main" id="{2C8CA79C-B205-68F9-1155-407644DFFA02}"/>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1536"/>
    </mc:Choice>
    <mc:Fallback>
      <p:transition spd="slow" advTm="315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0" lvl="0" indent="0">
              <a:spcBef>
                <a:spcPts val="0"/>
              </a:spcBef>
              <a:buSzPts val="2400"/>
              <a:buNone/>
            </a:pPr>
            <a:r>
              <a:rPr lang="en-US" dirty="0"/>
              <a:t>Authentication</a:t>
            </a:r>
          </a:p>
          <a:p>
            <a:pPr marL="342900" lvl="0">
              <a:spcBef>
                <a:spcPts val="0"/>
              </a:spcBef>
              <a:buSzPts val="2400"/>
              <a:buFont typeface="Courier New" panose="02070309020205020404" pitchFamily="49" charset="0"/>
              <a:buChar char="o"/>
            </a:pPr>
            <a:r>
              <a:rPr lang="en-US" dirty="0"/>
              <a:t>Require strong passwords and multi-factor authentication (MFA)</a:t>
            </a:r>
          </a:p>
          <a:p>
            <a:pPr marL="342900" lvl="0">
              <a:spcBef>
                <a:spcPts val="0"/>
              </a:spcBef>
              <a:buSzPts val="2400"/>
              <a:buFont typeface="Courier New" panose="02070309020205020404" pitchFamily="49" charset="0"/>
              <a:buChar char="o"/>
            </a:pPr>
            <a:r>
              <a:rPr lang="en-US" dirty="0"/>
              <a:t>Verify user identity before granting access</a:t>
            </a:r>
          </a:p>
          <a:p>
            <a:pPr marL="342900" lvl="0">
              <a:spcBef>
                <a:spcPts val="0"/>
              </a:spcBef>
              <a:buSzPts val="2400"/>
              <a:buFont typeface="Courier New" panose="02070309020205020404" pitchFamily="49" charset="0"/>
              <a:buChar char="o"/>
            </a:pPr>
            <a:r>
              <a:rPr lang="en-US" dirty="0"/>
              <a:t>Prevent unauthorized access to accounts</a:t>
            </a:r>
          </a:p>
          <a:p>
            <a:pPr marL="342900" lvl="0">
              <a:spcBef>
                <a:spcPts val="0"/>
              </a:spcBef>
              <a:buSzPts val="2400"/>
              <a:buFont typeface="Courier New" panose="02070309020205020404" pitchFamily="49" charset="0"/>
              <a:buChar char="o"/>
            </a:pPr>
            <a:endParaRPr lang="en-US" dirty="0"/>
          </a:p>
          <a:p>
            <a:pPr marL="0" lvl="0" indent="0">
              <a:spcBef>
                <a:spcPts val="0"/>
              </a:spcBef>
              <a:buSzPts val="2400"/>
              <a:buNone/>
            </a:pPr>
            <a:r>
              <a:rPr lang="en-US" dirty="0"/>
              <a:t>Authorization</a:t>
            </a:r>
          </a:p>
          <a:p>
            <a:pPr marL="342900" lvl="0">
              <a:spcBef>
                <a:spcPts val="0"/>
              </a:spcBef>
              <a:buSzPts val="2400"/>
              <a:buFont typeface="Courier New" panose="02070309020205020404" pitchFamily="49" charset="0"/>
              <a:buChar char="o"/>
            </a:pPr>
            <a:r>
              <a:rPr lang="en-US" dirty="0"/>
              <a:t>Implement role-based access control (RBAC)</a:t>
            </a:r>
          </a:p>
          <a:p>
            <a:pPr marL="342900" lvl="0">
              <a:spcBef>
                <a:spcPts val="0"/>
              </a:spcBef>
              <a:buSzPts val="2400"/>
              <a:buFont typeface="Courier New" panose="02070309020205020404" pitchFamily="49" charset="0"/>
              <a:buChar char="o"/>
            </a:pPr>
            <a:r>
              <a:rPr lang="en-US" dirty="0"/>
              <a:t>Enforce least privilege access</a:t>
            </a:r>
          </a:p>
          <a:p>
            <a:pPr marL="342900" lvl="0">
              <a:spcBef>
                <a:spcPts val="0"/>
              </a:spcBef>
              <a:buSzPts val="2400"/>
              <a:buFont typeface="Courier New" panose="02070309020205020404" pitchFamily="49" charset="0"/>
              <a:buChar char="o"/>
            </a:pPr>
            <a:r>
              <a:rPr lang="en-US" dirty="0"/>
              <a:t>Restrict access to sensitive resources</a:t>
            </a:r>
          </a:p>
          <a:p>
            <a:pPr marL="342900" lvl="0">
              <a:spcBef>
                <a:spcPts val="0"/>
              </a:spcBef>
              <a:buSzPts val="2400"/>
              <a:buFont typeface="Courier New" panose="02070309020205020404" pitchFamily="49" charset="0"/>
              <a:buChar char="o"/>
            </a:pPr>
            <a:endParaRPr lang="en-US" dirty="0"/>
          </a:p>
          <a:p>
            <a:pPr marL="0" lvl="0" indent="0">
              <a:spcBef>
                <a:spcPts val="0"/>
              </a:spcBef>
              <a:buSzPts val="2400"/>
              <a:buNone/>
            </a:pPr>
            <a:r>
              <a:rPr lang="en-US" dirty="0"/>
              <a:t>Accounting</a:t>
            </a:r>
          </a:p>
          <a:p>
            <a:pPr marL="342900" lvl="0">
              <a:spcBef>
                <a:spcPts val="0"/>
              </a:spcBef>
              <a:buSzPts val="2400"/>
              <a:buFont typeface="Courier New" panose="02070309020205020404" pitchFamily="49" charset="0"/>
              <a:buChar char="o"/>
            </a:pPr>
            <a:r>
              <a:rPr lang="en-US" dirty="0"/>
              <a:t>Log user activity and system events</a:t>
            </a:r>
          </a:p>
          <a:p>
            <a:pPr marL="342900" lvl="0">
              <a:spcBef>
                <a:spcPts val="0"/>
              </a:spcBef>
              <a:buSzPts val="2400"/>
              <a:buFont typeface="Courier New" panose="02070309020205020404" pitchFamily="49" charset="0"/>
              <a:buChar char="o"/>
            </a:pPr>
            <a:r>
              <a:rPr lang="en-US" dirty="0"/>
              <a:t>Monitor access and detect suspicious behavior</a:t>
            </a:r>
          </a:p>
          <a:p>
            <a:pPr marL="342900" lvl="0">
              <a:spcBef>
                <a:spcPts val="0"/>
              </a:spcBef>
              <a:buSzPts val="2400"/>
              <a:buFont typeface="Courier New" panose="02070309020205020404" pitchFamily="49" charset="0"/>
              <a:buChar char="o"/>
            </a:pPr>
            <a:r>
              <a:rPr lang="en-US" dirty="0"/>
              <a:t>Maintain audit trails for security and compliance</a:t>
            </a:r>
            <a:endParaRPr dirty="0"/>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Audio 10">
            <a:hlinkClick r:id="" action="ppaction://media"/>
            <a:extLst>
              <a:ext uri="{FF2B5EF4-FFF2-40B4-BE49-F238E27FC236}">
                <a16:creationId xmlns:a16="http://schemas.microsoft.com/office/drawing/2014/main" id="{D0088F08-6113-05B8-7C6D-F52BB2FB0254}"/>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0726"/>
    </mc:Choice>
    <mc:Fallback>
      <p:transition spd="slow" advTm="307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916774" y="163196"/>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706974" y="1113011"/>
            <a:ext cx="10820400" cy="4024200"/>
          </a:xfrm>
          <a:prstGeom prst="rect">
            <a:avLst/>
          </a:prstGeom>
          <a:noFill/>
          <a:ln>
            <a:noFill/>
          </a:ln>
        </p:spPr>
        <p:txBody>
          <a:bodyPr spcFirstLastPara="1" wrap="square" lIns="91425" tIns="45700" rIns="91425" bIns="45700" anchor="t" anchorCtr="0">
            <a:noAutofit/>
          </a:bodyPr>
          <a:lstStyle/>
          <a:p>
            <a:pPr marL="0" lvl="0" indent="0">
              <a:buNone/>
            </a:pPr>
            <a:r>
              <a:rPr lang="en-US" dirty="0"/>
              <a:t>Selected Vulnerability</a:t>
            </a:r>
          </a:p>
          <a:p>
            <a:pPr marL="342900" lvl="0">
              <a:buFont typeface="Courier New" panose="02070309020205020404" pitchFamily="49" charset="0"/>
              <a:buChar char="o"/>
            </a:pPr>
            <a:r>
              <a:rPr lang="en-US" dirty="0"/>
              <a:t>Input validation failure</a:t>
            </a:r>
          </a:p>
          <a:p>
            <a:pPr marL="342900" lvl="0">
              <a:buFont typeface="Courier New" panose="02070309020205020404" pitchFamily="49" charset="0"/>
              <a:buChar char="o"/>
            </a:pPr>
            <a:endParaRPr lang="en-US" dirty="0"/>
          </a:p>
          <a:p>
            <a:pPr marL="0" lvl="0" indent="0">
              <a:buNone/>
            </a:pPr>
            <a:r>
              <a:rPr lang="en-US" dirty="0"/>
              <a:t>Testing Approach</a:t>
            </a:r>
          </a:p>
          <a:p>
            <a:pPr marL="342900" lvl="0">
              <a:buFont typeface="Courier New" panose="02070309020205020404" pitchFamily="49" charset="0"/>
              <a:buChar char="o"/>
            </a:pPr>
            <a:r>
              <a:rPr lang="en-US" dirty="0"/>
              <a:t>Use unit tests to validate user input handling</a:t>
            </a:r>
          </a:p>
          <a:p>
            <a:pPr marL="342900" lvl="0">
              <a:buFont typeface="Courier New" panose="02070309020205020404" pitchFamily="49" charset="0"/>
              <a:buChar char="o"/>
            </a:pPr>
            <a:r>
              <a:rPr lang="en-US" dirty="0"/>
              <a:t>Include both positive and negative test cases</a:t>
            </a:r>
          </a:p>
          <a:p>
            <a:pPr marL="342900" lvl="0">
              <a:buFont typeface="Courier New" panose="02070309020205020404" pitchFamily="49" charset="0"/>
              <a:buChar char="o"/>
            </a:pPr>
            <a:r>
              <a:rPr lang="en-US" dirty="0"/>
              <a:t>Ensure invalid input is rejected and handled safely</a:t>
            </a:r>
          </a:p>
          <a:p>
            <a:pPr marL="342900" lvl="0">
              <a:buFont typeface="Courier New" panose="02070309020205020404" pitchFamily="49" charset="0"/>
              <a:buChar char="o"/>
            </a:pPr>
            <a:endParaRPr lang="en-US" dirty="0"/>
          </a:p>
          <a:p>
            <a:pPr marL="0" lvl="0" indent="0">
              <a:buNone/>
            </a:pPr>
            <a:r>
              <a:rPr lang="en-US" dirty="0"/>
              <a:t>Test Coverage Includes</a:t>
            </a:r>
          </a:p>
          <a:p>
            <a:pPr marL="342900" lvl="0">
              <a:buFont typeface="Courier New" panose="02070309020205020404" pitchFamily="49" charset="0"/>
              <a:buChar char="o"/>
            </a:pPr>
            <a:r>
              <a:rPr lang="en-US" dirty="0"/>
              <a:t>Valid input (expected success)</a:t>
            </a:r>
          </a:p>
          <a:p>
            <a:pPr marL="342900" lvl="0">
              <a:buFont typeface="Courier New" panose="02070309020205020404" pitchFamily="49" charset="0"/>
              <a:buChar char="o"/>
            </a:pPr>
            <a:r>
              <a:rPr lang="en-US" dirty="0"/>
              <a:t>Invalid input types (expected failure)</a:t>
            </a:r>
          </a:p>
          <a:p>
            <a:pPr marL="342900" lvl="0">
              <a:buFont typeface="Courier New" panose="02070309020205020404" pitchFamily="49" charset="0"/>
              <a:buChar char="o"/>
            </a:pPr>
            <a:r>
              <a:rPr lang="en-US" dirty="0"/>
              <a:t>Boundary values (edge cases)</a:t>
            </a:r>
          </a:p>
          <a:p>
            <a:pPr marL="342900">
              <a:buFont typeface="Courier New" panose="02070309020205020404" pitchFamily="49" charset="0"/>
              <a:buChar char="o"/>
            </a:pPr>
            <a:r>
              <a:rPr lang="en-US" dirty="0"/>
              <a:t>Error handling validation </a:t>
            </a: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0" name="Audio 9">
            <a:hlinkClick r:id="" action="ppaction://media"/>
            <a:extLst>
              <a:ext uri="{FF2B5EF4-FFF2-40B4-BE49-F238E27FC236}">
                <a16:creationId xmlns:a16="http://schemas.microsoft.com/office/drawing/2014/main" id="{9CF0780D-12FF-F617-8F61-56FEF019EAEA}"/>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961"/>
    </mc:Choice>
    <mc:Fallback>
      <p:transition spd="slow" advTm="249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9" name="Audio 8">
            <a:hlinkClick r:id="" action="ppaction://media"/>
            <a:extLst>
              <a:ext uri="{FF2B5EF4-FFF2-40B4-BE49-F238E27FC236}">
                <a16:creationId xmlns:a16="http://schemas.microsoft.com/office/drawing/2014/main" id="{194000D9-3017-65FC-8FE1-477BAB82AC73}"/>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9076"/>
    </mc:Choice>
    <mc:Fallback>
      <p:transition spd="slow" advTm="190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57200" lvl="1" indent="0">
              <a:spcBef>
                <a:spcPts val="0"/>
              </a:spcBef>
              <a:buSzPts val="2000"/>
              <a:buNone/>
            </a:pPr>
            <a:r>
              <a:rPr lang="en-US" sz="1600" dirty="0"/>
              <a:t>Development Stage</a:t>
            </a:r>
          </a:p>
          <a:p>
            <a:pPr marL="742950" lvl="1" indent="-285750">
              <a:spcBef>
                <a:spcPts val="0"/>
              </a:spcBef>
              <a:buSzPts val="2000"/>
              <a:buFont typeface="Courier New" panose="02070309020205020404" pitchFamily="49" charset="0"/>
              <a:buChar char="o"/>
            </a:pPr>
            <a:r>
              <a:rPr lang="en-US" sz="1600" dirty="0"/>
              <a:t>Static analysis tools (e.g., </a:t>
            </a:r>
            <a:r>
              <a:rPr lang="en-US" sz="1600" dirty="0" err="1"/>
              <a:t>Cppcheck</a:t>
            </a:r>
            <a:r>
              <a:rPr lang="en-US" sz="1600" dirty="0"/>
              <a:t>)</a:t>
            </a:r>
          </a:p>
          <a:p>
            <a:pPr marL="742950" lvl="1" indent="-285750">
              <a:spcBef>
                <a:spcPts val="0"/>
              </a:spcBef>
              <a:buSzPts val="2000"/>
              <a:buFont typeface="Courier New" panose="02070309020205020404" pitchFamily="49" charset="0"/>
              <a:buChar char="o"/>
            </a:pPr>
            <a:r>
              <a:rPr lang="en-US" sz="1600" dirty="0"/>
              <a:t>Code reviews and secure coding practices</a:t>
            </a:r>
          </a:p>
          <a:p>
            <a:pPr marL="742950" lvl="1" indent="-285750">
              <a:spcBef>
                <a:spcPts val="0"/>
              </a:spcBef>
              <a:buSzPts val="2000"/>
              <a:buFont typeface="Courier New" panose="02070309020205020404" pitchFamily="49" charset="0"/>
              <a:buChar char="o"/>
            </a:pPr>
            <a:endParaRPr lang="en-US" sz="1600" dirty="0"/>
          </a:p>
          <a:p>
            <a:pPr marL="457200" lvl="1" indent="0">
              <a:spcBef>
                <a:spcPts val="0"/>
              </a:spcBef>
              <a:buSzPts val="2000"/>
              <a:buNone/>
            </a:pPr>
            <a:r>
              <a:rPr lang="en-US" sz="1600" dirty="0"/>
              <a:t>Testing Stage</a:t>
            </a:r>
          </a:p>
          <a:p>
            <a:pPr marL="742950" lvl="1" indent="-285750">
              <a:spcBef>
                <a:spcPts val="0"/>
              </a:spcBef>
              <a:buSzPts val="2000"/>
              <a:buFont typeface="Courier New" panose="02070309020205020404" pitchFamily="49" charset="0"/>
              <a:buChar char="o"/>
            </a:pPr>
            <a:r>
              <a:rPr lang="en-US" sz="1600" dirty="0"/>
              <a:t>Unit testing frameworks (Visual Studio C++ testing)</a:t>
            </a:r>
          </a:p>
          <a:p>
            <a:pPr marL="742950" lvl="1" indent="-285750">
              <a:spcBef>
                <a:spcPts val="0"/>
              </a:spcBef>
              <a:buSzPts val="2000"/>
              <a:buFont typeface="Courier New" panose="02070309020205020404" pitchFamily="49" charset="0"/>
              <a:buChar char="o"/>
            </a:pPr>
            <a:r>
              <a:rPr lang="en-US" sz="1600" dirty="0"/>
              <a:t>Vulnerability scanning tools</a:t>
            </a:r>
          </a:p>
          <a:p>
            <a:pPr marL="742950" lvl="1" indent="-285750">
              <a:spcBef>
                <a:spcPts val="0"/>
              </a:spcBef>
              <a:buSzPts val="2000"/>
              <a:buFont typeface="Courier New" panose="02070309020205020404" pitchFamily="49" charset="0"/>
              <a:buChar char="o"/>
            </a:pPr>
            <a:endParaRPr lang="en-US" sz="1600" dirty="0"/>
          </a:p>
          <a:p>
            <a:pPr marL="457200" lvl="1" indent="0">
              <a:spcBef>
                <a:spcPts val="0"/>
              </a:spcBef>
              <a:buSzPts val="2000"/>
              <a:buNone/>
            </a:pPr>
            <a:r>
              <a:rPr lang="en-US" sz="1600" dirty="0"/>
              <a:t>Deployment Stage</a:t>
            </a:r>
          </a:p>
          <a:p>
            <a:pPr marL="742950" lvl="1" indent="-285750">
              <a:spcBef>
                <a:spcPts val="0"/>
              </a:spcBef>
              <a:buSzPts val="2000"/>
              <a:buFont typeface="Courier New" panose="02070309020205020404" pitchFamily="49" charset="0"/>
              <a:buChar char="o"/>
            </a:pPr>
            <a:r>
              <a:rPr lang="en-US" sz="1600" dirty="0"/>
              <a:t>Secure configuration and environment validation</a:t>
            </a:r>
          </a:p>
          <a:p>
            <a:pPr marL="742950" lvl="1" indent="-285750">
              <a:spcBef>
                <a:spcPts val="0"/>
              </a:spcBef>
              <a:buSzPts val="2000"/>
              <a:buFont typeface="Courier New" panose="02070309020205020404" pitchFamily="49" charset="0"/>
              <a:buChar char="o"/>
            </a:pPr>
            <a:r>
              <a:rPr lang="en-US" sz="1600" dirty="0"/>
              <a:t>Automated build and integration tools</a:t>
            </a:r>
          </a:p>
          <a:p>
            <a:pPr marL="742950" lvl="1" indent="-285750">
              <a:spcBef>
                <a:spcPts val="0"/>
              </a:spcBef>
              <a:buSzPts val="2000"/>
              <a:buFont typeface="Courier New" panose="02070309020205020404" pitchFamily="49" charset="0"/>
              <a:buChar char="o"/>
            </a:pPr>
            <a:endParaRPr lang="en-US" sz="1600" dirty="0"/>
          </a:p>
          <a:p>
            <a:pPr marL="457200" lvl="1" indent="0">
              <a:spcBef>
                <a:spcPts val="0"/>
              </a:spcBef>
              <a:buSzPts val="2000"/>
              <a:buNone/>
            </a:pPr>
            <a:r>
              <a:rPr lang="en-US" sz="1600" dirty="0"/>
              <a:t>Production Stage</a:t>
            </a:r>
          </a:p>
          <a:p>
            <a:pPr marL="742950" lvl="1" indent="-285750">
              <a:spcBef>
                <a:spcPts val="0"/>
              </a:spcBef>
              <a:buSzPts val="2000"/>
              <a:buFont typeface="Courier New" panose="02070309020205020404" pitchFamily="49" charset="0"/>
              <a:buChar char="o"/>
            </a:pPr>
            <a:r>
              <a:rPr lang="en-US" sz="1600" dirty="0"/>
              <a:t>Monitoring and logging tools (SIEM)</a:t>
            </a:r>
          </a:p>
          <a:p>
            <a:pPr marL="742950" lvl="1" indent="-285750">
              <a:spcBef>
                <a:spcPts val="0"/>
              </a:spcBef>
              <a:buSzPts val="2000"/>
              <a:buFont typeface="Courier New" panose="02070309020205020404" pitchFamily="49" charset="0"/>
              <a:buChar char="o"/>
            </a:pPr>
            <a:r>
              <a:rPr lang="en-US" sz="1600" dirty="0"/>
              <a:t>Intrusion detection systems (IDS)</a:t>
            </a:r>
            <a:endParaRPr sz="1600" dirty="0"/>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6" name="Audio 5">
            <a:hlinkClick r:id="" action="ppaction://media"/>
            <a:extLst>
              <a:ext uri="{FF2B5EF4-FFF2-40B4-BE49-F238E27FC236}">
                <a16:creationId xmlns:a16="http://schemas.microsoft.com/office/drawing/2014/main" id="{C82BE23E-348E-C1BA-FEB6-66F17E61685E}"/>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7937"/>
    </mc:Choice>
    <mc:Fallback>
      <p:transition spd="slow" advTm="279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1736901"/>
            <a:ext cx="10820400" cy="50178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1800" dirty="0"/>
              <a:t>Problems Identified</a:t>
            </a:r>
          </a:p>
          <a:p>
            <a:pPr marL="342900" lvl="0" algn="l" rtl="0">
              <a:lnSpc>
                <a:spcPct val="90000"/>
              </a:lnSpc>
              <a:spcBef>
                <a:spcPts val="0"/>
              </a:spcBef>
              <a:spcAft>
                <a:spcPts val="0"/>
              </a:spcAft>
              <a:buClr>
                <a:schemeClr val="lt1"/>
              </a:buClr>
              <a:buSzPts val="2000"/>
              <a:buFont typeface="Courier New" panose="02070309020205020404" pitchFamily="49" charset="0"/>
              <a:buChar char="o"/>
            </a:pPr>
            <a:r>
              <a:rPr lang="en-US" sz="1800" dirty="0"/>
              <a:t>Input validation vulnerabilities</a:t>
            </a:r>
          </a:p>
          <a:p>
            <a:pPr marL="342900" lvl="0" algn="l" rtl="0">
              <a:lnSpc>
                <a:spcPct val="90000"/>
              </a:lnSpc>
              <a:spcBef>
                <a:spcPts val="0"/>
              </a:spcBef>
              <a:spcAft>
                <a:spcPts val="0"/>
              </a:spcAft>
              <a:buClr>
                <a:schemeClr val="lt1"/>
              </a:buClr>
              <a:buSzPts val="2000"/>
              <a:buFont typeface="Courier New" panose="02070309020205020404" pitchFamily="49" charset="0"/>
              <a:buChar char="o"/>
            </a:pPr>
            <a:r>
              <a:rPr lang="en-US" sz="1800" dirty="0"/>
              <a:t>Risk of data exposure and unauthorized access</a:t>
            </a:r>
          </a:p>
          <a:p>
            <a:pPr marL="342900" lvl="0" algn="l" rtl="0">
              <a:lnSpc>
                <a:spcPct val="90000"/>
              </a:lnSpc>
              <a:spcBef>
                <a:spcPts val="0"/>
              </a:spcBef>
              <a:spcAft>
                <a:spcPts val="0"/>
              </a:spcAft>
              <a:buClr>
                <a:schemeClr val="lt1"/>
              </a:buClr>
              <a:buSzPts val="2000"/>
              <a:buFont typeface="Courier New" panose="02070309020205020404" pitchFamily="49" charset="0"/>
              <a:buChar char="o"/>
            </a:pPr>
            <a:r>
              <a:rPr lang="en-US" sz="1800" dirty="0"/>
              <a:t>Inconsistent security practices across development</a:t>
            </a:r>
          </a:p>
          <a:p>
            <a:pPr marL="0" lvl="0" indent="0" algn="l" rtl="0">
              <a:lnSpc>
                <a:spcPct val="90000"/>
              </a:lnSpc>
              <a:spcBef>
                <a:spcPts val="0"/>
              </a:spcBef>
              <a:spcAft>
                <a:spcPts val="0"/>
              </a:spcAft>
              <a:buClr>
                <a:schemeClr val="lt1"/>
              </a:buClr>
              <a:buSzPts val="2000"/>
              <a:buNone/>
            </a:pPr>
            <a:endParaRPr lang="en-US" sz="1800" dirty="0"/>
          </a:p>
          <a:p>
            <a:pPr marL="0" lvl="0" indent="0">
              <a:spcBef>
                <a:spcPts val="0"/>
              </a:spcBef>
              <a:buSzPts val="2000"/>
              <a:buNone/>
            </a:pPr>
            <a:r>
              <a:rPr lang="en-US" sz="1800" dirty="0"/>
              <a:t>Solutions Implemented</a:t>
            </a:r>
          </a:p>
          <a:p>
            <a:pPr marL="342900" lvl="0">
              <a:spcBef>
                <a:spcPts val="0"/>
              </a:spcBef>
              <a:buSzPts val="2000"/>
              <a:buFont typeface="Courier New" panose="02070309020205020404" pitchFamily="49" charset="0"/>
              <a:buChar char="o"/>
            </a:pPr>
            <a:r>
              <a:rPr lang="en-US" sz="1800" dirty="0"/>
              <a:t>Standardized secure coding policies</a:t>
            </a:r>
          </a:p>
          <a:p>
            <a:pPr marL="342900" lvl="0">
              <a:spcBef>
                <a:spcPts val="0"/>
              </a:spcBef>
              <a:buSzPts val="2000"/>
              <a:buFont typeface="Courier New" panose="02070309020205020404" pitchFamily="49" charset="0"/>
              <a:buChar char="o"/>
            </a:pPr>
            <a:r>
              <a:rPr lang="en-US" sz="1800" dirty="0"/>
              <a:t>Use of encryption and Triple-A framework</a:t>
            </a:r>
          </a:p>
          <a:p>
            <a:pPr marL="342900" lvl="0">
              <a:spcBef>
                <a:spcPts val="0"/>
              </a:spcBef>
              <a:buSzPts val="2000"/>
              <a:buFont typeface="Courier New" panose="02070309020205020404" pitchFamily="49" charset="0"/>
              <a:buChar char="o"/>
            </a:pPr>
            <a:r>
              <a:rPr lang="en-US" sz="1800" dirty="0"/>
              <a:t>Automated testing and vulnerability detection</a:t>
            </a:r>
          </a:p>
          <a:p>
            <a:pPr marL="342900" lvl="0">
              <a:spcBef>
                <a:spcPts val="0"/>
              </a:spcBef>
              <a:buSzPts val="2000"/>
              <a:buFont typeface="Courier New" panose="02070309020205020404" pitchFamily="49" charset="0"/>
              <a:buChar char="o"/>
            </a:pPr>
            <a:endParaRPr lang="en-US" sz="1800" dirty="0"/>
          </a:p>
          <a:p>
            <a:pPr marL="0" lvl="0" indent="0">
              <a:spcBef>
                <a:spcPts val="0"/>
              </a:spcBef>
              <a:buSzPts val="2000"/>
              <a:buNone/>
            </a:pPr>
            <a:r>
              <a:rPr lang="en-US" sz="1800" dirty="0"/>
              <a:t>Benefits of Acting Now</a:t>
            </a:r>
          </a:p>
          <a:p>
            <a:pPr marL="342900" lvl="0">
              <a:spcBef>
                <a:spcPts val="0"/>
              </a:spcBef>
              <a:buSzPts val="2000"/>
              <a:buFont typeface="Courier New" panose="02070309020205020404" pitchFamily="49" charset="0"/>
              <a:buChar char="o"/>
            </a:pPr>
            <a:r>
              <a:rPr lang="en-US" sz="1800" dirty="0"/>
              <a:t>Reduces risk of data breaches</a:t>
            </a:r>
          </a:p>
          <a:p>
            <a:pPr marL="342900" lvl="0">
              <a:spcBef>
                <a:spcPts val="0"/>
              </a:spcBef>
              <a:buSzPts val="2000"/>
              <a:buFont typeface="Courier New" panose="02070309020205020404" pitchFamily="49" charset="0"/>
              <a:buChar char="o"/>
            </a:pPr>
            <a:r>
              <a:rPr lang="en-US" sz="1800" dirty="0"/>
              <a:t>Improves system reliability and security</a:t>
            </a:r>
          </a:p>
          <a:p>
            <a:pPr marL="342900" lvl="0">
              <a:spcBef>
                <a:spcPts val="0"/>
              </a:spcBef>
              <a:buSzPts val="2000"/>
              <a:buFont typeface="Courier New" panose="02070309020205020404" pitchFamily="49" charset="0"/>
              <a:buChar char="o"/>
            </a:pPr>
            <a:r>
              <a:rPr lang="en-US" sz="1800" dirty="0"/>
              <a:t>Detects vulnerabilities early in development</a:t>
            </a:r>
          </a:p>
          <a:p>
            <a:pPr marL="342900" lvl="0">
              <a:spcBef>
                <a:spcPts val="0"/>
              </a:spcBef>
              <a:buSzPts val="2000"/>
              <a:buFont typeface="Courier New" panose="02070309020205020404" pitchFamily="49" charset="0"/>
              <a:buChar char="o"/>
            </a:pPr>
            <a:endParaRPr lang="en-US" sz="1800" dirty="0"/>
          </a:p>
          <a:p>
            <a:pPr marL="0" lvl="0" indent="0">
              <a:spcBef>
                <a:spcPts val="0"/>
              </a:spcBef>
              <a:buSzPts val="2000"/>
              <a:buNone/>
            </a:pPr>
            <a:r>
              <a:rPr lang="en-US" sz="1800" dirty="0"/>
              <a:t>Risks of Delaying Action</a:t>
            </a:r>
          </a:p>
          <a:p>
            <a:pPr marL="285750" lvl="0" indent="-285750">
              <a:spcBef>
                <a:spcPts val="0"/>
              </a:spcBef>
              <a:buSzPts val="2000"/>
              <a:buFont typeface="Courier New" panose="02070309020205020404" pitchFamily="49" charset="0"/>
              <a:buChar char="o"/>
            </a:pPr>
            <a:r>
              <a:rPr lang="en-US" sz="1800" dirty="0"/>
              <a:t>Increased likelihood of exploitation</a:t>
            </a:r>
          </a:p>
          <a:p>
            <a:pPr marL="285750" lvl="0" indent="-285750">
              <a:spcBef>
                <a:spcPts val="0"/>
              </a:spcBef>
              <a:buSzPts val="2000"/>
              <a:buFont typeface="Courier New" panose="02070309020205020404" pitchFamily="49" charset="0"/>
              <a:buChar char="o"/>
            </a:pPr>
            <a:r>
              <a:rPr lang="en-US" sz="1800" dirty="0"/>
              <a:t>Higher cost to fix vulnerabilities later</a:t>
            </a:r>
          </a:p>
          <a:p>
            <a:pPr marL="285750" lvl="0" indent="-285750">
              <a:spcBef>
                <a:spcPts val="0"/>
              </a:spcBef>
              <a:buSzPts val="2000"/>
              <a:buFont typeface="Courier New" panose="02070309020205020404" pitchFamily="49" charset="0"/>
              <a:buChar char="o"/>
            </a:pPr>
            <a:r>
              <a:rPr lang="en-US" sz="1800" dirty="0"/>
              <a:t>Potential data loss and reputational damage</a:t>
            </a:r>
            <a:endParaRPr sz="1800" dirty="0"/>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0" name="Audio 9">
            <a:hlinkClick r:id="" action="ppaction://media"/>
            <a:extLst>
              <a:ext uri="{FF2B5EF4-FFF2-40B4-BE49-F238E27FC236}">
                <a16:creationId xmlns:a16="http://schemas.microsoft.com/office/drawing/2014/main" id="{08E9F09E-C773-B407-649F-4C08586E716D}"/>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8262"/>
    </mc:Choice>
    <mc:Fallback>
      <p:transition spd="slow" advTm="282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1769806"/>
            <a:ext cx="10820400" cy="5088194"/>
          </a:xfrm>
          <a:prstGeom prst="rect">
            <a:avLst/>
          </a:prstGeom>
          <a:noFill/>
          <a:ln>
            <a:noFill/>
          </a:ln>
        </p:spPr>
        <p:txBody>
          <a:bodyPr spcFirstLastPara="1" wrap="square" lIns="91425" tIns="45700" rIns="91425" bIns="45700" anchor="t" anchorCtr="0">
            <a:normAutofit/>
          </a:bodyPr>
          <a:lstStyle/>
          <a:p>
            <a:pPr marL="914400" lvl="2" indent="0">
              <a:spcBef>
                <a:spcPts val="0"/>
              </a:spcBef>
              <a:buNone/>
            </a:pPr>
            <a:r>
              <a:rPr lang="en-US" dirty="0"/>
              <a:t>Identified Gaps</a:t>
            </a:r>
          </a:p>
          <a:p>
            <a:pPr marL="1200150" lvl="2" indent="-285750">
              <a:spcBef>
                <a:spcPts val="0"/>
              </a:spcBef>
              <a:buFont typeface="Courier New" panose="02070309020205020404" pitchFamily="49" charset="0"/>
              <a:buChar char="o"/>
            </a:pPr>
            <a:r>
              <a:rPr lang="en-US" dirty="0"/>
              <a:t>Lack of continuous security training for developers</a:t>
            </a:r>
          </a:p>
          <a:p>
            <a:pPr marL="1200150" lvl="2" indent="-285750">
              <a:spcBef>
                <a:spcPts val="0"/>
              </a:spcBef>
              <a:buFont typeface="Courier New" panose="02070309020205020404" pitchFamily="49" charset="0"/>
              <a:buChar char="o"/>
            </a:pPr>
            <a:r>
              <a:rPr lang="en-US" dirty="0"/>
              <a:t>Limited real-time threat detection and response</a:t>
            </a:r>
          </a:p>
          <a:p>
            <a:pPr marL="1200150" lvl="2" indent="-285750">
              <a:spcBef>
                <a:spcPts val="0"/>
              </a:spcBef>
              <a:buFont typeface="Courier New" panose="02070309020205020404" pitchFamily="49" charset="0"/>
              <a:buChar char="o"/>
            </a:pPr>
            <a:r>
              <a:rPr lang="en-US" dirty="0"/>
              <a:t>Potential gaps in secure configuration management</a:t>
            </a:r>
          </a:p>
          <a:p>
            <a:pPr marL="1200150" lvl="2" indent="-285750">
              <a:spcBef>
                <a:spcPts val="0"/>
              </a:spcBef>
              <a:buFont typeface="Courier New" panose="02070309020205020404" pitchFamily="49" charset="0"/>
              <a:buChar char="o"/>
            </a:pPr>
            <a:endParaRPr lang="en-US" dirty="0"/>
          </a:p>
          <a:p>
            <a:pPr marL="914400" lvl="2" indent="0">
              <a:spcBef>
                <a:spcPts val="0"/>
              </a:spcBef>
              <a:buNone/>
            </a:pPr>
            <a:r>
              <a:rPr lang="en-US" dirty="0"/>
              <a:t>Recommended Improvements</a:t>
            </a:r>
          </a:p>
          <a:p>
            <a:pPr marL="1200150" lvl="2" indent="-285750">
              <a:spcBef>
                <a:spcPts val="0"/>
              </a:spcBef>
              <a:buFont typeface="Courier New" panose="02070309020205020404" pitchFamily="49" charset="0"/>
              <a:buChar char="o"/>
            </a:pPr>
            <a:r>
              <a:rPr lang="en-US" dirty="0"/>
              <a:t>Implement ongoing security awareness and training programs</a:t>
            </a:r>
          </a:p>
          <a:p>
            <a:pPr marL="1200150" lvl="2" indent="-285750">
              <a:spcBef>
                <a:spcPts val="0"/>
              </a:spcBef>
              <a:buFont typeface="Courier New" panose="02070309020205020404" pitchFamily="49" charset="0"/>
              <a:buChar char="o"/>
            </a:pPr>
            <a:r>
              <a:rPr lang="en-US" dirty="0"/>
              <a:t>Enhance real-time monitoring and incident response capabilities</a:t>
            </a:r>
          </a:p>
          <a:p>
            <a:pPr marL="1200150" lvl="2" indent="-285750">
              <a:spcBef>
                <a:spcPts val="0"/>
              </a:spcBef>
              <a:buFont typeface="Courier New" panose="02070309020205020404" pitchFamily="49" charset="0"/>
              <a:buChar char="o"/>
            </a:pPr>
            <a:r>
              <a:rPr lang="en-US" dirty="0"/>
              <a:t>Regularly audit and update system configurations</a:t>
            </a:r>
          </a:p>
          <a:p>
            <a:pPr marL="1200150" lvl="2" indent="-285750">
              <a:spcBef>
                <a:spcPts val="0"/>
              </a:spcBef>
              <a:buFont typeface="Courier New" panose="02070309020205020404" pitchFamily="49" charset="0"/>
              <a:buChar char="o"/>
            </a:pPr>
            <a:endParaRPr lang="en-US" dirty="0"/>
          </a:p>
          <a:p>
            <a:pPr marL="914400" lvl="2" indent="0">
              <a:spcBef>
                <a:spcPts val="0"/>
              </a:spcBef>
              <a:buNone/>
            </a:pPr>
            <a:r>
              <a:rPr lang="en-US" dirty="0"/>
              <a:t>Future Focus Areas</a:t>
            </a:r>
          </a:p>
          <a:p>
            <a:pPr marL="1200150" lvl="2" indent="-285750">
              <a:spcBef>
                <a:spcPts val="0"/>
              </a:spcBef>
              <a:buFont typeface="Courier New" panose="02070309020205020404" pitchFamily="49" charset="0"/>
              <a:buChar char="o"/>
            </a:pPr>
            <a:r>
              <a:rPr lang="en-US" dirty="0"/>
              <a:t>Expand automated security testing across all stages</a:t>
            </a:r>
          </a:p>
          <a:p>
            <a:pPr marL="1200150" lvl="2" indent="-285750">
              <a:spcBef>
                <a:spcPts val="0"/>
              </a:spcBef>
              <a:buFont typeface="Courier New" panose="02070309020205020404" pitchFamily="49" charset="0"/>
              <a:buChar char="o"/>
            </a:pPr>
            <a:r>
              <a:rPr lang="en-US" dirty="0"/>
              <a:t>Strengthen </a:t>
            </a:r>
            <a:r>
              <a:rPr lang="en-US" dirty="0" err="1"/>
              <a:t>DevSecOps</a:t>
            </a:r>
            <a:r>
              <a:rPr lang="en-US" dirty="0"/>
              <a:t> integration</a:t>
            </a:r>
          </a:p>
          <a:p>
            <a:pPr marL="1200150" lvl="2" indent="-285750">
              <a:spcBef>
                <a:spcPts val="0"/>
              </a:spcBef>
              <a:buFont typeface="Courier New" panose="02070309020205020404" pitchFamily="49" charset="0"/>
              <a:buChar char="o"/>
            </a:pPr>
            <a:r>
              <a:rPr lang="en-US" dirty="0"/>
              <a:t>Continuously update policies to address emerging threats</a:t>
            </a:r>
            <a:endParaRPr dirty="0"/>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6" name="Audio 5">
            <a:hlinkClick r:id="" action="ppaction://media"/>
            <a:extLst>
              <a:ext uri="{FF2B5EF4-FFF2-40B4-BE49-F238E27FC236}">
                <a16:creationId xmlns:a16="http://schemas.microsoft.com/office/drawing/2014/main" id="{BAD1A9E1-81D0-62CA-143F-123EF9FB4EE7}"/>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6179"/>
    </mc:Choice>
    <mc:Fallback>
      <p:transition spd="slow" advTm="261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dirty="0"/>
              <a:t>Standards to Adopt</a:t>
            </a:r>
          </a:p>
          <a:p>
            <a:pPr marL="342900" lvl="0">
              <a:spcBef>
                <a:spcPts val="0"/>
              </a:spcBef>
              <a:buSzPts val="2200"/>
              <a:buFont typeface="Courier New" panose="02070309020205020404" pitchFamily="49" charset="0"/>
              <a:buChar char="o"/>
            </a:pPr>
            <a:r>
              <a:rPr lang="en-US" dirty="0"/>
              <a:t>Follow secure coding standards such as OWASP and CERT guidelines</a:t>
            </a:r>
          </a:p>
          <a:p>
            <a:pPr marL="342900" lvl="0">
              <a:spcBef>
                <a:spcPts val="0"/>
              </a:spcBef>
              <a:buSzPts val="2200"/>
              <a:buFont typeface="Courier New" panose="02070309020205020404" pitchFamily="49" charset="0"/>
              <a:buChar char="o"/>
            </a:pPr>
            <a:r>
              <a:rPr lang="en-US" dirty="0"/>
              <a:t>Enforce strict input validation and output encoding across all systems</a:t>
            </a:r>
          </a:p>
          <a:p>
            <a:pPr marL="342900" lvl="0">
              <a:spcBef>
                <a:spcPts val="0"/>
              </a:spcBef>
              <a:buSzPts val="2200"/>
              <a:buFont typeface="Courier New" panose="02070309020205020404" pitchFamily="49" charset="0"/>
              <a:buChar char="o"/>
            </a:pPr>
            <a:r>
              <a:rPr lang="en-US" dirty="0"/>
              <a:t>Implement strong encryption standards (TLS 1.2+ and AES-256)</a:t>
            </a:r>
          </a:p>
          <a:p>
            <a:pPr marL="342900" lvl="0">
              <a:spcBef>
                <a:spcPts val="0"/>
              </a:spcBef>
              <a:buSzPts val="2200"/>
              <a:buFont typeface="Courier New" panose="02070309020205020404" pitchFamily="49" charset="0"/>
              <a:buChar char="o"/>
            </a:pPr>
            <a:r>
              <a:rPr lang="en-US" dirty="0"/>
              <a:t>Apply authentication and authorization using the Triple-A model</a:t>
            </a:r>
          </a:p>
          <a:p>
            <a:pPr marL="342900" lvl="0">
              <a:spcBef>
                <a:spcPts val="0"/>
              </a:spcBef>
              <a:buSzPts val="2200"/>
              <a:buFont typeface="Courier New" panose="02070309020205020404" pitchFamily="49" charset="0"/>
              <a:buChar char="o"/>
            </a:pPr>
            <a:r>
              <a:rPr lang="en-US" dirty="0"/>
              <a:t>Adopt </a:t>
            </a:r>
            <a:r>
              <a:rPr lang="en-US" dirty="0" err="1"/>
              <a:t>DevSecOps</a:t>
            </a:r>
            <a:r>
              <a:rPr lang="en-US" dirty="0"/>
              <a:t> practices with continuous security testing</a:t>
            </a:r>
          </a:p>
          <a:p>
            <a:pPr marL="342900" lvl="0">
              <a:spcBef>
                <a:spcPts val="0"/>
              </a:spcBef>
              <a:buSzPts val="2200"/>
              <a:buFont typeface="Courier New" panose="02070309020205020404" pitchFamily="49" charset="0"/>
              <a:buChar char="o"/>
            </a:pPr>
            <a:r>
              <a:rPr lang="en-US" dirty="0"/>
              <a:t>Maintain regular security audits and configuration management reviews</a:t>
            </a:r>
            <a:endParaRPr dirty="0"/>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6" name="Audio 5">
            <a:hlinkClick r:id="" action="ppaction://media"/>
            <a:extLst>
              <a:ext uri="{FF2B5EF4-FFF2-40B4-BE49-F238E27FC236}">
                <a16:creationId xmlns:a16="http://schemas.microsoft.com/office/drawing/2014/main" id="{81F3E51F-3E57-57D8-5497-DC3B8D155569}"/>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1911"/>
    </mc:Choice>
    <mc:Fallback>
      <p:transition spd="slow" advTm="319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342900" lvl="0" algn="l" rtl="0">
              <a:lnSpc>
                <a:spcPct val="90000"/>
              </a:lnSpc>
              <a:spcBef>
                <a:spcPts val="0"/>
              </a:spcBef>
              <a:spcAft>
                <a:spcPts val="0"/>
              </a:spcAft>
              <a:buClr>
                <a:schemeClr val="lt1"/>
              </a:buClr>
              <a:buSzPts val="2200"/>
              <a:buFont typeface="Courier New" panose="02070309020205020404" pitchFamily="49" charset="0"/>
              <a:buChar char="o"/>
            </a:pPr>
            <a:r>
              <a:rPr lang="en-US" dirty="0"/>
              <a:t>OWASP Foundation. (n.d.). OWASP Top Ten Web Application Security Risks. </a:t>
            </a:r>
            <a:r>
              <a:rPr lang="en-US" dirty="0">
                <a:hlinkClick r:id="rId6"/>
              </a:rPr>
              <a:t>https://owasp.org/www-project-top-ten/</a:t>
            </a:r>
            <a:endParaRPr lang="en-US" dirty="0"/>
          </a:p>
          <a:p>
            <a:pPr marL="342900" lvl="0" algn="l" rtl="0">
              <a:lnSpc>
                <a:spcPct val="90000"/>
              </a:lnSpc>
              <a:spcBef>
                <a:spcPts val="0"/>
              </a:spcBef>
              <a:spcAft>
                <a:spcPts val="0"/>
              </a:spcAft>
              <a:buClr>
                <a:schemeClr val="lt1"/>
              </a:buClr>
              <a:buSzPts val="2200"/>
              <a:buFont typeface="Courier New" panose="02070309020205020404" pitchFamily="49" charset="0"/>
              <a:buChar char="o"/>
            </a:pPr>
            <a:r>
              <a:rPr lang="en-US" dirty="0"/>
              <a:t>SEI CERT. (n.d.). CERT C++ Coding Standard. </a:t>
            </a:r>
            <a:r>
              <a:rPr lang="en-US" dirty="0">
                <a:hlinkClick r:id="rId7"/>
              </a:rPr>
              <a:t>https://wiki.sei.cmu.edu/confluence/display/cplusplus</a:t>
            </a:r>
            <a:endParaRPr lang="en-US" dirty="0"/>
          </a:p>
          <a:p>
            <a:pPr marL="342900" lvl="0">
              <a:spcBef>
                <a:spcPts val="0"/>
              </a:spcBef>
              <a:buSzPts val="2200"/>
              <a:buFont typeface="Courier New" panose="02070309020205020404" pitchFamily="49" charset="0"/>
              <a:buChar char="o"/>
            </a:pPr>
            <a:r>
              <a:rPr lang="en-US" dirty="0"/>
              <a:t>National Institute of Standards and Technology (NIST). (2020). Security and Privacy Controls for Information Systems and Organizations (SP 800-53 Rev. 5). </a:t>
            </a:r>
            <a:r>
              <a:rPr lang="en-US" dirty="0">
                <a:hlinkClick r:id="rId8"/>
              </a:rPr>
              <a:t>https://csrc.nist.gov/publications/detail/sp/800-53/rev-5/final</a:t>
            </a:r>
            <a:endParaRPr lang="en-US" dirty="0"/>
          </a:p>
          <a:p>
            <a:pPr marL="342900" lvl="0">
              <a:spcBef>
                <a:spcPts val="0"/>
              </a:spcBef>
              <a:buSzPts val="2200"/>
              <a:buFont typeface="Courier New" panose="02070309020205020404" pitchFamily="49" charset="0"/>
              <a:buChar char="o"/>
            </a:pPr>
            <a:r>
              <a:rPr lang="en-US" dirty="0"/>
              <a:t>National Institute of Standards and Technology (NIST). (2018). Digital Identity Guidelines (SP 800-63). </a:t>
            </a:r>
            <a:r>
              <a:rPr lang="en-US" dirty="0">
                <a:hlinkClick r:id="rId9"/>
              </a:rPr>
              <a:t>https://pages.nist.gov/800-63-3/</a:t>
            </a:r>
            <a:endParaRPr lang="en-US" dirty="0"/>
          </a:p>
          <a:p>
            <a:pPr marL="342900" lvl="0" algn="l" rtl="0">
              <a:lnSpc>
                <a:spcPct val="90000"/>
              </a:lnSpc>
              <a:spcBef>
                <a:spcPts val="0"/>
              </a:spcBef>
              <a:spcAft>
                <a:spcPts val="0"/>
              </a:spcAft>
              <a:buClr>
                <a:schemeClr val="lt1"/>
              </a:buClr>
              <a:buSzPts val="2200"/>
              <a:buFont typeface="Courier New" panose="02070309020205020404" pitchFamily="49" charset="0"/>
              <a:buChar char="o"/>
            </a:pPr>
            <a:r>
              <a:rPr lang="en-US" dirty="0"/>
              <a:t>Microsoft. (n.d.). Secure Coding Guidelines. </a:t>
            </a:r>
            <a:r>
              <a:rPr lang="en-US" dirty="0">
                <a:hlinkClick r:id="rId10"/>
              </a:rPr>
              <a:t>https://learn.microsoft.com/en-us/security/</a:t>
            </a:r>
            <a:endParaRPr lang="en-US" dirty="0"/>
          </a:p>
          <a:p>
            <a:pPr marL="342900" lvl="0" algn="l" rtl="0">
              <a:lnSpc>
                <a:spcPct val="90000"/>
              </a:lnSpc>
              <a:spcBef>
                <a:spcPts val="0"/>
              </a:spcBef>
              <a:spcAft>
                <a:spcPts val="0"/>
              </a:spcAft>
              <a:buClr>
                <a:schemeClr val="lt1"/>
              </a:buClr>
              <a:buSzPts val="2200"/>
              <a:buFont typeface="Courier New" panose="02070309020205020404" pitchFamily="49" charset="0"/>
              <a:buChar char="o"/>
            </a:pPr>
            <a:r>
              <a:rPr lang="en-US" dirty="0"/>
              <a:t>OWASP Foundation. (n.d.). </a:t>
            </a:r>
            <a:r>
              <a:rPr lang="en-US" dirty="0" err="1"/>
              <a:t>DevSecOps</a:t>
            </a:r>
            <a:r>
              <a:rPr lang="en-US" dirty="0"/>
              <a:t> Guideline. </a:t>
            </a:r>
            <a:r>
              <a:rPr lang="en-US" dirty="0">
                <a:hlinkClick r:id="rId11"/>
              </a:rPr>
              <a:t>https://owasp.org/www-project-devsecops-guideline/</a:t>
            </a:r>
            <a:endParaRPr lang="en-US" dirty="0"/>
          </a:p>
          <a:p>
            <a:pPr marL="0" lvl="0" indent="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12">
            <a:alphaModFix/>
          </a:blip>
          <a:stretch>
            <a:fillRect/>
          </a:stretch>
        </p:blipFill>
        <p:spPr>
          <a:xfrm>
            <a:off x="11239031" y="5440526"/>
            <a:ext cx="886601" cy="1149225"/>
          </a:xfrm>
          <a:prstGeom prst="rect">
            <a:avLst/>
          </a:prstGeom>
          <a:noFill/>
          <a:ln>
            <a:noFill/>
          </a:ln>
        </p:spPr>
      </p:pic>
      <p:pic>
        <p:nvPicPr>
          <p:cNvPr id="6" name="Audio 5">
            <a:hlinkClick r:id="" action="ppaction://media"/>
            <a:extLst>
              <a:ext uri="{FF2B5EF4-FFF2-40B4-BE49-F238E27FC236}">
                <a16:creationId xmlns:a16="http://schemas.microsoft.com/office/drawing/2014/main" id="{28981649-89AB-CAF4-D3BC-05DAA5F91C76}"/>
              </a:ext>
            </a:extLst>
          </p:cNvPr>
          <p:cNvPicPr>
            <a:picLocks noChangeAspect="1"/>
          </p:cNvPicPr>
          <p:nvPr>
            <a:audioFile r:link="rId3"/>
            <p:extLst>
              <p:ext uri="{DAA4B4D4-6D71-4841-9C94-3DE7FCFB9230}">
                <p14:media xmlns:p14="http://schemas.microsoft.com/office/powerpoint/2010/main" r:embed="rId2"/>
              </p:ext>
            </p:extLst>
          </p:nvPr>
        </p:nvPicPr>
        <p:blipFill>
          <a:blip r:embed="rId13"/>
          <a:srcRect l="-161075" t="-161075" r="-161075" b="-1610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7534"/>
    </mc:Choice>
    <mc:Fallback>
      <p:transition spd="slow" advTm="175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75</TotalTime>
  <Words>924</Words>
  <Application>Microsoft Office PowerPoint</Application>
  <PresentationFormat>Widescreen</PresentationFormat>
  <Paragraphs>168</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Courier New</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Cook, Dusty</cp:lastModifiedBy>
  <cp:revision>6</cp:revision>
  <dcterms:created xsi:type="dcterms:W3CDTF">2020-08-19T17:59:24Z</dcterms:created>
  <dcterms:modified xsi:type="dcterms:W3CDTF">2026-04-19T22:15:09Z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